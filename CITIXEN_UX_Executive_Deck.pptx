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Ward Health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FF88"/>
              </a:solidFill>
              <a:ln w="9525" cap="flat">
                <a:solidFill>
                  <a:srgbClr val="0F171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A211D"/>
              </a:solidFill>
              <a:ln w="9525" cap="flat">
                <a:solidFill>
                  <a:srgbClr val="0F171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Healthy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88</c:v>
                </c:pt>
                <c:pt idx="1">
                  <c:v>12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IXEN_MASTER">
    <p:bg>
      <p:bgPr>
        <a:solidFill>
          <a:srgbClr val="080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mailto:partners@citixenux.com" TargetMode="External"/><Relationship Id="rId2" Type="http://schemas.openxmlformats.org/officeDocument/2006/relationships/hyperlink" Target="https://citixenux.com/pilot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0"/>
            <a:ext cx="0" cy="2286000"/>
          </a:xfrm>
          <a:prstGeom prst="line">
            <a:avLst/>
          </a:prstGeom>
          <a:noFill/>
          <a:ln w="1270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68880" y="4572000"/>
            <a:ext cx="0" cy="2286000"/>
          </a:xfrm>
          <a:prstGeom prst="line">
            <a:avLst/>
          </a:prstGeom>
          <a:noFill/>
          <a:ln w="1270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80560" y="4572000"/>
            <a:ext cx="0" cy="2286000"/>
          </a:xfrm>
          <a:prstGeom prst="line">
            <a:avLst/>
          </a:prstGeom>
          <a:noFill/>
          <a:ln w="1270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4572000"/>
            <a:ext cx="0" cy="2286000"/>
          </a:xfrm>
          <a:prstGeom prst="line">
            <a:avLst/>
          </a:prstGeom>
          <a:noFill/>
          <a:ln w="1270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4572000"/>
            <a:ext cx="0" cy="2286000"/>
          </a:xfrm>
          <a:prstGeom prst="line">
            <a:avLst/>
          </a:prstGeom>
          <a:noFill/>
          <a:ln w="1270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4572000"/>
            <a:ext cx="0" cy="2286000"/>
          </a:xfrm>
          <a:prstGeom prst="line">
            <a:avLst/>
          </a:prstGeom>
          <a:noFill/>
          <a:ln w="1270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74436" y="105156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080C0A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0" y="187452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CIVIC INTELLIGENCE PLATFORM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0" y="22402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CITIXEN UX</a:t>
            </a:r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™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0" y="31089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Your Civic Experience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979676" y="3611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citizen reports into resolved infrastructure — anonymously, in real time, and with the capital-planning data to prove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25796" y="44348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E2119"/>
          </a:solidFill>
          <a:ln w="12700">
            <a:solidFill>
              <a:srgbClr val="00FF88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25796" y="4434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citixenux.com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1512" y="411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3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Closure Gap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1920240"/>
          </a:xfrm>
          <a:prstGeom prst="roundRect">
            <a:avLst>
              <a:gd name="adj" fmla="val 5714"/>
            </a:avLst>
          </a:prstGeom>
          <a:solidFill>
            <a:srgbClr val="0F1713"/>
          </a:solidFill>
          <a:ln w="15875">
            <a:solidFill>
              <a:srgbClr val="00FF8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10451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311 and municipal ERP systems suffer from a high 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"Administrative Closure Gap"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where service tickets are marked </a:t>
            </a:r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"Closed"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"Resolved"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back-office software upon administrative intake, despite zero physical dispatch or field verification taking place.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0F1713"/>
          </a:solidFill>
          <a:ln w="12700">
            <a:solidFill>
              <a:srgbClr val="26302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48056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systems prioritize administrative throughput over physical field execution.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PLATFORM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1512" y="411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Pipeline. </a:t>
            </a:r>
            <a:pPr indent="0" marL="0">
              <a:buNone/>
            </a:pPr>
            <a:r>
              <a:rPr lang="en-US" sz="3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Modules.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75304" cy="3291840"/>
          </a:xfrm>
          <a:prstGeom prst="roundRect">
            <a:avLst>
              <a:gd name="adj" fmla="val 3333"/>
            </a:avLst>
          </a:prstGeom>
          <a:solidFill>
            <a:srgbClr val="0F1713"/>
          </a:solidFill>
          <a:ln w="12700">
            <a:solidFill>
              <a:srgbClr val="2630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94560"/>
            <a:ext cx="681228" cy="256032"/>
          </a:xfrm>
          <a:prstGeom prst="roundRect">
            <a:avLst>
              <a:gd name="adj" fmla="val 50000"/>
            </a:avLst>
          </a:prstGeom>
          <a:ln w="12700">
            <a:solidFill>
              <a:srgbClr val="00FF88">
                <a:alpha val="7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681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Gateway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63240"/>
            <a:ext cx="3118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Live, public ward-health dashboard — resolution SLA, dispatch capacity, and resolve rate, visible without a login.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06824" y="1965960"/>
            <a:ext cx="3575304" cy="3291840"/>
          </a:xfrm>
          <a:prstGeom prst="roundRect">
            <a:avLst>
              <a:gd name="adj" fmla="val 3333"/>
            </a:avLst>
          </a:prstGeom>
          <a:solidFill>
            <a:srgbClr val="0F1713"/>
          </a:solidFill>
          <a:ln w="12700">
            <a:solidFill>
              <a:srgbClr val="2630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2194560"/>
            <a:ext cx="406908" cy="256032"/>
          </a:xfrm>
          <a:prstGeom prst="roundRect">
            <a:avLst>
              <a:gd name="adj" fmla="val 50000"/>
            </a:avLst>
          </a:prstGeom>
          <a:ln w="12700">
            <a:solidFill>
              <a:srgbClr val="00FF88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35424" y="2194560"/>
            <a:ext cx="406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PWA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260604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Reporter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3063240"/>
            <a:ext cx="3118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Zero-account mobile reporting. Category, photo, description — EXIF and GPS stripped before upload, submitted in under 60 seconds.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65008" y="1965960"/>
            <a:ext cx="3575304" cy="3291840"/>
          </a:xfrm>
          <a:prstGeom prst="roundRect">
            <a:avLst>
              <a:gd name="adj" fmla="val 3333"/>
            </a:avLst>
          </a:prstGeom>
          <a:solidFill>
            <a:srgbClr val="0F1713"/>
          </a:solidFill>
          <a:ln w="12700">
            <a:solidFill>
              <a:srgbClr val="2630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194560"/>
            <a:ext cx="681228" cy="256032"/>
          </a:xfrm>
          <a:prstGeom prst="roundRect">
            <a:avLst>
              <a:gd name="adj" fmla="val 50000"/>
            </a:avLst>
          </a:prstGeom>
          <a:ln w="12700">
            <a:solidFill>
              <a:srgbClr val="00FF88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194560"/>
            <a:ext cx="681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60604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Console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93608" y="3063240"/>
            <a:ext cx="3118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dispatch, SLA and severity queues, capital ledger, and one-click printable ward reporting for council packets.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TECHNOLOGY · IP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1512" y="411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Dual-Engine </a:t>
            </a:r>
            <a:pPr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Architecture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provisional filings cover the platform end to end — one governing the citizen-facing capture and moderation layer, one governing the back-end spatial data and capital-scoping engine.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408676" cy="3977640"/>
          </a:xfrm>
          <a:prstGeom prst="roundRect">
            <a:avLst>
              <a:gd name="adj" fmla="val 2759"/>
            </a:avLst>
          </a:prstGeom>
          <a:solidFill>
            <a:srgbClr val="0F1713"/>
          </a:solidFill>
          <a:ln w="15875">
            <a:solidFill>
              <a:srgbClr val="00FF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624328"/>
            <a:ext cx="1298448" cy="256032"/>
          </a:xfrm>
          <a:prstGeom prst="roundRect">
            <a:avLst>
              <a:gd name="adj" fmla="val 50000"/>
            </a:avLst>
          </a:prstGeom>
          <a:ln w="12700">
            <a:solidFill>
              <a:srgbClr val="00FF88">
                <a:alpha val="7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243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CITIZEN UX LAYER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7180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 Switchboard Layer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37560"/>
            <a:ext cx="49514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"System and Method for Location-Verified Civic Intelligence Capture, Moderation, and Real-Time District Management Ledger"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60520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the front-end Citizen UX: location verification, moderation, and the real-time district management switchboard.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02920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Provisional Patent Application No. 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64/160,168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394960"/>
            <a:ext cx="495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Filed September 22,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2423160"/>
            <a:ext cx="5408676" cy="3977640"/>
          </a:xfrm>
          <a:prstGeom prst="roundRect">
            <a:avLst>
              <a:gd name="adj" fmla="val 2759"/>
            </a:avLst>
          </a:prstGeom>
          <a:solidFill>
            <a:srgbClr val="0F1713"/>
          </a:solidFill>
          <a:ln w="15875">
            <a:solidFill>
              <a:srgbClr val="00FF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0236" y="2624328"/>
            <a:ext cx="2052828" cy="256032"/>
          </a:xfrm>
          <a:prstGeom prst="roundRect">
            <a:avLst>
              <a:gd name="adj" fmla="val 50000"/>
            </a:avLst>
          </a:prstGeom>
          <a:ln w="12700">
            <a:solidFill>
              <a:srgbClr val="00FF88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0236" y="2624328"/>
            <a:ext cx="20528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MUNICIPAL SPATIAL TELEMETRY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60236" y="297180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Data Engine &amp; CapEx Scoping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60236" y="3337560"/>
            <a:ext cx="49514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"Hardware-Agnostic Spatial Stream Processing Engine for Automated Material Cataloging, Structural Degradation Evaluation, and Dynamic Cost-Linked Infrastructure Scoping"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460236" y="4251960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back-end data stripping, material cataloging, structural degradation evaluation, and automated CapEx scoping.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60236" y="512064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Provisional Patent Application No. 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64/163,426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60236" y="5486400"/>
            <a:ext cx="495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Filed September 27, 2026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Filing details as provided by applicant.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TELEMETRY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1512" y="411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</a:t>
            </a:r>
            <a:pPr indent="0" marL="0">
              <a:buNone/>
            </a:pPr>
            <a:r>
              <a:rPr lang="en-US" sz="3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Health Telemetry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75304" cy="3108960"/>
          </a:xfrm>
          <a:prstGeom prst="roundRect">
            <a:avLst>
              <a:gd name="adj" fmla="val 3529"/>
            </a:avLst>
          </a:prstGeom>
          <a:solidFill>
            <a:srgbClr val="0F1713"/>
          </a:solidFill>
          <a:ln w="12700">
            <a:solidFill>
              <a:srgbClr val="26302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9456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 HEALTH INDEX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421892" y="2514600"/>
          <a:ext cx="1828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1421892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57200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4 — Stable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06824" y="2011680"/>
            <a:ext cx="3575304" cy="3108960"/>
          </a:xfrm>
          <a:prstGeom prst="roundRect">
            <a:avLst>
              <a:gd name="adj" fmla="val 3529"/>
            </a:avLst>
          </a:prstGeom>
          <a:solidFill>
            <a:srgbClr val="0F1713"/>
          </a:solidFill>
          <a:ln w="12700">
            <a:solidFill>
              <a:srgbClr val="26302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89704" y="233172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RESOLUTION SLA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489704" y="2834640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pPr algn="ctr" indent="0" marL="0">
              <a:buNone/>
            </a:pPr>
            <a:r>
              <a:rPr lang="en-US" sz="1600" b="1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hrs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4489704" y="370332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report to crew close-out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65008" y="2011680"/>
            <a:ext cx="3575304" cy="3108960"/>
          </a:xfrm>
          <a:prstGeom prst="roundRect">
            <a:avLst>
              <a:gd name="adj" fmla="val 3529"/>
            </a:avLst>
          </a:prstGeom>
          <a:solidFill>
            <a:srgbClr val="0F1713"/>
          </a:solidFill>
          <a:ln w="12700">
            <a:solidFill>
              <a:srgbClr val="26302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47888" y="233172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RESOLVE RATE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247888" y="2834640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pPr algn="ctr" indent="0" marL="0">
              <a:buNone/>
            </a:pPr>
            <a:r>
              <a:rPr lang="en-US" sz="1600" b="1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/91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8247888" y="370332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resolved this week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1512" y="411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Verification, </a:t>
            </a:r>
            <a:pPr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Ghost Closures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ticket cannot close on paperwork alone. Every resolution requires a timestamped, EXIF-verified proof photo from the crew on site — pushed automatically to the public feed.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08676" cy="2377440"/>
          </a:xfrm>
          <a:prstGeom prst="roundRect">
            <a:avLst>
              <a:gd name="adj" fmla="val 4615"/>
            </a:avLst>
          </a:prstGeom>
          <a:solidFill>
            <a:srgbClr val="0F1713"/>
          </a:solidFill>
          <a:ln w="12700">
            <a:solidFill>
              <a:srgbClr val="2630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34640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8600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 marks a ticket “Resolved” from a desk. No photo, no timestamp, no way to confirm a crew was ever on site.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1636" y="2606040"/>
            <a:ext cx="5408676" cy="2377440"/>
          </a:xfrm>
          <a:prstGeom prst="roundRect">
            <a:avLst>
              <a:gd name="adj" fmla="val 4615"/>
            </a:avLst>
          </a:prstGeom>
          <a:solidFill>
            <a:srgbClr val="0F1713"/>
          </a:solidFill>
          <a:ln w="15875">
            <a:solidFill>
              <a:srgbClr val="00FF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5956" y="2834640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CITIXEN UX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05956" y="3200400"/>
            <a:ext cx="48600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 requires a proof photo. EXIF timestamp + location are verified server-side, then the resolution posts to the resident's public feed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 PLANNING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1512" y="411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Scoping </a:t>
            </a:r>
            <a:pPr indent="0" marL="0">
              <a:buNone/>
            </a:pPr>
            <a:r>
              <a:rPr lang="en-US" sz="3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ticket contributes condition data to a live capital-scoping ledger — turning "we think Main Street needs repaving" into a dollar figure backed by real reports.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17036" y="2743200"/>
            <a:ext cx="4754880" cy="2286000"/>
          </a:xfrm>
          <a:prstGeom prst="roundRect">
            <a:avLst>
              <a:gd name="adj" fmla="val 4800"/>
            </a:avLst>
          </a:prstGeom>
          <a:solidFill>
            <a:srgbClr val="0F1713"/>
          </a:solidFill>
          <a:ln w="15875">
            <a:solidFill>
              <a:srgbClr val="00FF8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17036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CAPEX SCOPING LEDGER — TRACK 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717036" y="3337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$482,600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717036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capital spend — current cycle, Ward 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1512" y="411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Budget. </a:t>
            </a:r>
            <a:pPr indent="0" marL="0">
              <a:buNone/>
            </a:pPr>
            <a:r>
              <a:rPr lang="en-US" sz="3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Split.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triage, routing, and reporting stop consuming staff hours, the same headcount and the same dollars shift from paperwork toward repair capacity.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6880945" cy="777240"/>
          </a:xfrm>
          <a:prstGeom prst="roundRect">
            <a:avLst>
              <a:gd name="adj" fmla="val 7059"/>
            </a:avLst>
          </a:prstGeom>
          <a:solidFill>
            <a:srgbClr val="00FF8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017520"/>
            <a:ext cx="68809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1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FIELD EXECUTION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29585" y="3017520"/>
            <a:ext cx="4210727" cy="777240"/>
          </a:xfrm>
          <a:prstGeom prst="roundRect">
            <a:avLst>
              <a:gd name="adj" fmla="val 7059"/>
            </a:avLst>
          </a:prstGeom>
          <a:solidFill>
            <a:srgbClr val="17201B"/>
          </a:solidFill>
          <a:ln w="12700">
            <a:solidFill>
              <a:srgbClr val="26302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29585" y="3017520"/>
            <a:ext cx="42107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−18% ADMIN OVERHEAD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FIELD REPAIR CAPITAL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ADMINISTRATIVE OVERHEAD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811512" y="411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Plug Into </a:t>
            </a:r>
            <a:pPr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Already Run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CITIXEN UX is designed as an integration layer, not a replacement — council-facing records and back-office systems stay where they are.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408676" cy="2651760"/>
          </a:xfrm>
          <a:prstGeom prst="roundRect">
            <a:avLst>
              <a:gd name="adj" fmla="val 4138"/>
            </a:avLst>
          </a:prstGeom>
          <a:solidFill>
            <a:srgbClr val="0F1713"/>
          </a:solidFill>
          <a:ln w="12700">
            <a:solidFill>
              <a:srgbClr val="2630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743200"/>
            <a:ext cx="1298448" cy="256032"/>
          </a:xfrm>
          <a:prstGeom prst="roundRect">
            <a:avLst>
              <a:gd name="adj" fmla="val 50000"/>
            </a:avLst>
          </a:prstGeom>
          <a:ln w="12700">
            <a:solidFill>
              <a:srgbClr val="00FF88">
                <a:alpha val="7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 / RECORDS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Legistar-Compatible Export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66160"/>
            <a:ext cx="48600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reports and capital-ledger summaries export in a format built to attach directly to council agenda packets.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1636" y="2514600"/>
            <a:ext cx="5408676" cy="2651760"/>
          </a:xfrm>
          <a:prstGeom prst="roundRect">
            <a:avLst>
              <a:gd name="adj" fmla="val 4138"/>
            </a:avLst>
          </a:prstGeom>
          <a:solidFill>
            <a:srgbClr val="0F1713"/>
          </a:solidFill>
          <a:ln w="12700">
            <a:solidFill>
              <a:srgbClr val="2630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05956" y="2743200"/>
            <a:ext cx="955548" cy="256032"/>
          </a:xfrm>
          <a:prstGeom prst="roundRect">
            <a:avLst>
              <a:gd name="adj" fmla="val 50000"/>
            </a:avLst>
          </a:prstGeom>
          <a:ln w="12700">
            <a:solidFill>
              <a:srgbClr val="00FF88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5956" y="2743200"/>
            <a:ext cx="955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 OFFICE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505956" y="3108960"/>
            <a:ext cx="4860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ERP Integration Layer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05956" y="3566160"/>
            <a:ext cx="48600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Work-order and capital data sync outward via API — designed to complement existing asset-management and ERP systems, not replace them.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 availability varies by municipal ERP vendor and Legistar deployment — confirm specific compatibility during technical scoping, not at contract signature.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3716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Put One Ward </a:t>
            </a:r>
            <a:pPr algn="ctr" indent="0" marL="0">
              <a:buNone/>
            </a:pPr>
            <a:r>
              <a:rPr lang="en-US" sz="3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Platform.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979676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E9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30-day pilot. No procurement cycle required to start the conversation — setup takes under two weeks.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39796" y="342900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00FF88"/>
          </a:solidFill>
          <a:ln/>
        </p:spPr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2939796" y="3429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513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partners@citixenux.com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40196" y="3429000"/>
            <a:ext cx="3108960" cy="502920"/>
          </a:xfrm>
          <a:prstGeom prst="roundRect">
            <a:avLst>
              <a:gd name="adj" fmla="val 14545"/>
            </a:avLst>
          </a:prstGeom>
          <a:ln w="12700">
            <a:solidFill>
              <a:srgbClr val="263029"/>
            </a:solidFill>
            <a:prstDash val="solid"/>
          </a:ln>
        </p:spPr>
      </p:sp>
      <p:sp>
        <p:nvSpPr>
          <p:cNvPr id="8" name="Text 6">
            <a:hlinkClick r:id="rId2" tooltip=""/>
          </p:cNvPr>
          <p:cNvSpPr txBox="1"/>
          <p:nvPr/>
        </p:nvSpPr>
        <p:spPr>
          <a:xfrm>
            <a:off x="6140196" y="3429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citixenux.com/pilot ↗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0" y="42976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reference deployment: La Crosse, WI — Ward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2026-09-27T23:04:48Z</dcterms:created>
  <dcterms:modified xsi:type="dcterms:W3CDTF">2026-09-27T23:04:48Z</dcterms:modified>
</cp:coreProperties>
</file>