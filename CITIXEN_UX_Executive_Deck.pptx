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IXEN_MASTER">
    <p:bg>
      <p:bgPr>
        <a:solidFill>
          <a:srgbClr val="08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mailto:partners@citixenux.com" TargetMode="External"/><Relationship Id="rId2" Type="http://schemas.openxmlformats.org/officeDocument/2006/relationships/hyperlink" Target="https://citixenux.com/pilot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0"/>
            <a:ext cx="0" cy="2286000"/>
          </a:xfrm>
          <a:prstGeom prst="line">
            <a:avLst/>
          </a:prstGeom>
          <a:noFill/>
          <a:ln w="1270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68880" y="4572000"/>
            <a:ext cx="0" cy="2286000"/>
          </a:xfrm>
          <a:prstGeom prst="line">
            <a:avLst/>
          </a:prstGeom>
          <a:noFill/>
          <a:ln w="1270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80560" y="4572000"/>
            <a:ext cx="0" cy="2286000"/>
          </a:xfrm>
          <a:prstGeom prst="line">
            <a:avLst/>
          </a:prstGeom>
          <a:noFill/>
          <a:ln w="1270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92240" y="4572000"/>
            <a:ext cx="0" cy="2286000"/>
          </a:xfrm>
          <a:prstGeom prst="line">
            <a:avLst/>
          </a:prstGeom>
          <a:noFill/>
          <a:ln w="1270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0" y="4572000"/>
            <a:ext cx="0" cy="2286000"/>
          </a:xfrm>
          <a:prstGeom prst="line">
            <a:avLst/>
          </a:prstGeom>
          <a:noFill/>
          <a:ln w="1270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0" y="4572000"/>
            <a:ext cx="0" cy="2286000"/>
          </a:xfrm>
          <a:prstGeom prst="line">
            <a:avLst/>
          </a:prstGeom>
          <a:noFill/>
          <a:ln w="1270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74436" y="105156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080C0A"/>
          </a:solidFill>
          <a:ln w="19050">
            <a:solidFill>
              <a:srgbClr val="00FF8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0" y="187452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CIVIC INTELLIGENCE PLATFORM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0" y="224028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CITIXEN UX</a:t>
            </a:r>
            <a:pPr algn="ctr" indent="0" marL="0">
              <a:buNone/>
            </a:pPr>
            <a:r>
              <a:rPr lang="en-US" sz="2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™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0" y="306324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 Your Civic Experience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0" y="3456432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ANONYMOUS · REAL-TIME RESOLUTION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979676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 citizen reports into resolved infrastructure — anonymously, in real time, and with the capital-planning data to prove it.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225796" y="452628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E2119"/>
          </a:solidFill>
          <a:ln w="12700">
            <a:solidFill>
              <a:srgbClr val="00FF88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25796" y="45262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citixenux.com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1512" y="411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indent="0" marL="0">
              <a:buNone/>
            </a:pPr>
            <a:r>
              <a:rPr lang="en-US" sz="3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Closure Gap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1672" cy="1920240"/>
          </a:xfrm>
          <a:prstGeom prst="roundRect">
            <a:avLst>
              <a:gd name="adj" fmla="val 5714"/>
            </a:avLst>
          </a:prstGeom>
          <a:solidFill>
            <a:srgbClr val="0F1713"/>
          </a:solidFill>
          <a:ln w="15875">
            <a:solidFill>
              <a:srgbClr val="00FF8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05740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311 and municipal ERP systems suffer from a high </a:t>
            </a:r>
            <a:pPr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"Administrative Closure Gap"</a:t>
            </a:r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where service tickets are marked </a:t>
            </a:r>
            <a:pPr indent="0" marL="0">
              <a:lnSpc>
                <a:spcPct val="140000"/>
              </a:lnSpc>
              <a:buNone/>
            </a:pPr>
            <a:r>
              <a:rPr lang="en-US" sz="1500" i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"Closed"</a:t>
            </a:r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indent="0" marL="0">
              <a:lnSpc>
                <a:spcPct val="140000"/>
              </a:lnSpc>
              <a:buNone/>
            </a:pPr>
            <a:r>
              <a:rPr lang="en-US" sz="1500" i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"Resolved"</a:t>
            </a:r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back-office software upon administrative intake, despite zero physical dispatch or field verification taking place.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0F1713"/>
          </a:solidFill>
          <a:ln w="12700">
            <a:solidFill>
              <a:srgbClr val="26302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TAKEAWAY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480560"/>
            <a:ext cx="10451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systems prioritize administrative throughput over physical field execution.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1512" y="411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Pipeline. </a:t>
            </a:r>
            <a:pPr indent="0" marL="0">
              <a:buNone/>
            </a:pPr>
            <a:r>
              <a:rPr lang="en-US" sz="3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Modules.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75304" cy="3291840"/>
          </a:xfrm>
          <a:prstGeom prst="roundRect">
            <a:avLst>
              <a:gd name="adj" fmla="val 3333"/>
            </a:avLst>
          </a:prstGeom>
          <a:solidFill>
            <a:srgbClr val="0F1713"/>
          </a:solidFill>
          <a:ln w="12700">
            <a:solidFill>
              <a:srgbClr val="2630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94560"/>
            <a:ext cx="1435608" cy="256032"/>
          </a:xfrm>
          <a:prstGeom prst="roundRect">
            <a:avLst>
              <a:gd name="adj" fmla="val 50000"/>
            </a:avLst>
          </a:prstGeom>
          <a:ln w="12700">
            <a:solidFill>
              <a:srgbClr val="00FF88">
                <a:alpha val="7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194560"/>
            <a:ext cx="1435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1 · GATEWAY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06040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63240"/>
            <a:ext cx="3118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public civic web dashboard — jurisdiction auto-detection, live ward-health telemetry, the immutable public ledger, a QR install card, and the Civic Tools drawer. No login required.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06824" y="1965960"/>
            <a:ext cx="3575304" cy="3291840"/>
          </a:xfrm>
          <a:prstGeom prst="roundRect">
            <a:avLst>
              <a:gd name="adj" fmla="val 3333"/>
            </a:avLst>
          </a:prstGeom>
          <a:solidFill>
            <a:srgbClr val="0F1713"/>
          </a:solidFill>
          <a:ln w="12700">
            <a:solidFill>
              <a:srgbClr val="26302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35424" y="2194560"/>
            <a:ext cx="1778508" cy="256032"/>
          </a:xfrm>
          <a:prstGeom prst="roundRect">
            <a:avLst>
              <a:gd name="adj" fmla="val 50000"/>
            </a:avLst>
          </a:prstGeom>
          <a:ln w="12700">
            <a:solidFill>
              <a:srgbClr val="00FF88">
                <a:alpha val="7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35424" y="2194560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2 · PWA REPORTER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2606040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 Reporter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35424" y="3063240"/>
            <a:ext cx="3118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zero-account mobile hazard-reporting app — the 4-tier legal stack, fog-of-war spatial grid, live map, and feed. EXIF and GPS are stripped from every photo before it leaves the device.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65008" y="1965960"/>
            <a:ext cx="3575304" cy="3291840"/>
          </a:xfrm>
          <a:prstGeom prst="roundRect">
            <a:avLst>
              <a:gd name="adj" fmla="val 3333"/>
            </a:avLst>
          </a:prstGeom>
          <a:solidFill>
            <a:srgbClr val="0F1713"/>
          </a:solidFill>
          <a:ln w="12700">
            <a:solidFill>
              <a:srgbClr val="26302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194560"/>
            <a:ext cx="1435608" cy="256032"/>
          </a:xfrm>
          <a:prstGeom prst="roundRect">
            <a:avLst>
              <a:gd name="adj" fmla="val 50000"/>
            </a:avLst>
          </a:prstGeom>
          <a:ln w="12700">
            <a:solidFill>
              <a:srgbClr val="00FF88">
                <a:alpha val="7000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194560"/>
            <a:ext cx="1435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3 · CONSOLE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93608" y="2606040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 Console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93608" y="3063240"/>
            <a:ext cx="3118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staff-facing dispatch console — severity-tiered ticket queues, a live GIS dispatch map, SLA tracking, the CapEx scoping ledger, AI-assisted quick-resolve, and printable Ward Reports for council packets.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TECHNOLOGY · IP 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1512" y="411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Dual-Engine </a:t>
            </a:r>
            <a:pPr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Architecture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provisional filings cover the platform end to end — one governing the citizen-facing capture and moderation layer, one governing the back-end spatial data and capital-scoping engine.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5408676" cy="3977640"/>
          </a:xfrm>
          <a:prstGeom prst="roundRect">
            <a:avLst>
              <a:gd name="adj" fmla="val 2759"/>
            </a:avLst>
          </a:prstGeom>
          <a:solidFill>
            <a:srgbClr val="0F1713"/>
          </a:solidFill>
          <a:ln w="15875">
            <a:solidFill>
              <a:srgbClr val="00FF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624328"/>
            <a:ext cx="1298448" cy="256032"/>
          </a:xfrm>
          <a:prstGeom prst="roundRect">
            <a:avLst>
              <a:gd name="adj" fmla="val 50000"/>
            </a:avLst>
          </a:prstGeom>
          <a:ln w="12700">
            <a:solidFill>
              <a:srgbClr val="00FF88">
                <a:alpha val="7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624328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CITIZEN UX LAYER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971800"/>
            <a:ext cx="4951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Resident Switchboard Layer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37560"/>
            <a:ext cx="49514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"System and Method for Location-Verified Civic Intelligence Capture, Moderation, and Real-Time District Management Ledger"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160520"/>
            <a:ext cx="49514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Powers the front-end Citizen UX: location verification, moderation, and the real-time district management switchboard.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029200"/>
            <a:ext cx="49514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U.S. Provisional Patent Application No. 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64/160,168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394960"/>
            <a:ext cx="495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Filed September 22, 2026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2423160"/>
            <a:ext cx="5408676" cy="3977640"/>
          </a:xfrm>
          <a:prstGeom prst="roundRect">
            <a:avLst>
              <a:gd name="adj" fmla="val 2759"/>
            </a:avLst>
          </a:prstGeom>
          <a:solidFill>
            <a:srgbClr val="0F1713"/>
          </a:solidFill>
          <a:ln w="15875">
            <a:solidFill>
              <a:srgbClr val="00FF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0236" y="2624328"/>
            <a:ext cx="2052828" cy="256032"/>
          </a:xfrm>
          <a:prstGeom prst="roundRect">
            <a:avLst>
              <a:gd name="adj" fmla="val 50000"/>
            </a:avLst>
          </a:prstGeom>
          <a:ln w="12700">
            <a:solidFill>
              <a:srgbClr val="00FF88">
                <a:alpha val="7000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0236" y="2624328"/>
            <a:ext cx="20528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MUNICIPAL SPATIAL TELEMETRY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460236" y="2971800"/>
            <a:ext cx="4951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 Data Engine &amp; CapEx Scoping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0236" y="3337560"/>
            <a:ext cx="49514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"Hardware-Agnostic Spatial Stream Processing Engine for Automated Material Cataloging, Structural Degradation Evaluation, and Dynamic Cost-Linked Infrastructure Scoping"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460236" y="4251960"/>
            <a:ext cx="49514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Powers back-end data stripping, material cataloging, structural degradation evaluation, and automated CapEx scoping.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60236" y="5120640"/>
            <a:ext cx="49514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U.S. Provisional Patent Application No. </a:t>
            </a:r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64/163,426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60236" y="5486400"/>
            <a:ext cx="495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Filed September 27, 2026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Filing details as provided by applicant.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1512" y="411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Verification, </a:t>
            </a:r>
            <a:pPr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Ghost Closures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ticket cannot close on paperwork alone. Every resolution requires a timestamped, EXIF-verified proof photo from the crew on site — pushed automatically to the public feed.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408676" cy="2377440"/>
          </a:xfrm>
          <a:prstGeom prst="roundRect">
            <a:avLst>
              <a:gd name="adj" fmla="val 4615"/>
            </a:avLst>
          </a:prstGeom>
          <a:solidFill>
            <a:srgbClr val="0F1713"/>
          </a:solidFill>
          <a:ln w="12700">
            <a:solidFill>
              <a:srgbClr val="26302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34640"/>
            <a:ext cx="48600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00400"/>
            <a:ext cx="48600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Dispatcher marks a ticket “Resolved” from a desk. No photo, no timestamp, no way to confirm a crew was ever on site.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31636" y="2606040"/>
            <a:ext cx="5408676" cy="2377440"/>
          </a:xfrm>
          <a:prstGeom prst="roundRect">
            <a:avLst>
              <a:gd name="adj" fmla="val 4615"/>
            </a:avLst>
          </a:prstGeom>
          <a:solidFill>
            <a:srgbClr val="0F1713"/>
          </a:solidFill>
          <a:ln w="15875">
            <a:solidFill>
              <a:srgbClr val="00FF8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5956" y="2834640"/>
            <a:ext cx="48600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CITIXEN UX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05956" y="3200400"/>
            <a:ext cx="48600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Closure requires a proof photo. EXIF timestamp + location are verified server-side, then the resolution posts to the resident's public feed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 PLANNING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1512" y="411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Immutable Public Ledger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field-verified report feeds a live CapEx-scoping ledger — converting report density and condition data into concrete dollar figures the city can plan a capital budget around.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3575304" cy="1920240"/>
          </a:xfrm>
          <a:prstGeom prst="roundRect">
            <a:avLst>
              <a:gd name="adj" fmla="val 5714"/>
            </a:avLst>
          </a:prstGeom>
          <a:solidFill>
            <a:srgbClr val="0F1713"/>
          </a:solidFill>
          <a:ln w="15875">
            <a:solidFill>
              <a:srgbClr val="00FF8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06040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SCOPED CAPITAL SPEND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$482,600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118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Scoping Ledger · Track 2, current cycle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06824" y="2377440"/>
            <a:ext cx="3575304" cy="1920240"/>
          </a:xfrm>
          <a:prstGeom prst="roundRect">
            <a:avLst>
              <a:gd name="adj" fmla="val 5714"/>
            </a:avLst>
          </a:prstGeom>
          <a:solidFill>
            <a:srgbClr val="0F1713"/>
          </a:solidFill>
          <a:ln w="12700">
            <a:solidFill>
              <a:srgbClr val="26302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9704" y="2606040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 COVERAGE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4489704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489704" y="36118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field-verified across active wards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65008" y="2377440"/>
            <a:ext cx="3575304" cy="1920240"/>
          </a:xfrm>
          <a:prstGeom prst="roundRect">
            <a:avLst>
              <a:gd name="adj" fmla="val 5714"/>
            </a:avLst>
          </a:prstGeom>
          <a:solidFill>
            <a:srgbClr val="0F1713"/>
          </a:solidFill>
          <a:ln w="12700">
            <a:solidFill>
              <a:srgbClr val="26302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47888" y="2606040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POPULATION COVERED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824788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52k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36118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Residents represented in live ledger inputs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63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Priced as one flat $1.00 / resident / year municipal contract — no per-ticket fee, no seat licenses, no dispatch surcharge.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1512" y="411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Budget. </a:t>
            </a:r>
            <a:pPr indent="0" marL="0">
              <a:buNone/>
            </a:pPr>
            <a:r>
              <a:rPr lang="en-US" sz="3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Split.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headcount, same dollars — reallocated once triage, routing, and reporting stop consuming staff hours. These are independent before/after deltas measured against the same budget cycle, not a fixed-sum split.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59636" y="2834640"/>
            <a:ext cx="4206240" cy="2194560"/>
          </a:xfrm>
          <a:prstGeom prst="roundRect">
            <a:avLst>
              <a:gd name="adj" fmla="val 5000"/>
            </a:avLst>
          </a:prstGeom>
          <a:solidFill>
            <a:srgbClr val="0F1713"/>
          </a:solidFill>
          <a:ln w="15875">
            <a:solidFill>
              <a:srgbClr val="00FF8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42516" y="3108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 EXECUTION CAPACITY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842516" y="35204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+34%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1933956" y="4434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reallocated to field repair crews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23076" y="2834640"/>
            <a:ext cx="4206240" cy="2194560"/>
          </a:xfrm>
          <a:prstGeom prst="roundRect">
            <a:avLst>
              <a:gd name="adj" fmla="val 5000"/>
            </a:avLst>
          </a:prstGeom>
          <a:solidFill>
            <a:srgbClr val="0F1713"/>
          </a:solidFill>
          <a:ln w="12700">
            <a:solidFill>
              <a:srgbClr val="26302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5956" y="3108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ADMINISTRATIVE OVERHEAD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505956" y="35204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−18%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597396" y="4434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 in desk triage &amp; routing burden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1512" y="411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Plug Into </a:t>
            </a:r>
            <a:pPr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Already Run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CITIXEN UX is designed as an integration layer, not a replacement — council-facing records and back-office systems stay where they are.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408676" cy="2651760"/>
          </a:xfrm>
          <a:prstGeom prst="roundRect">
            <a:avLst>
              <a:gd name="adj" fmla="val 4138"/>
            </a:avLst>
          </a:prstGeom>
          <a:solidFill>
            <a:srgbClr val="0F1713"/>
          </a:solidFill>
          <a:ln w="12700">
            <a:solidFill>
              <a:srgbClr val="26302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743200"/>
            <a:ext cx="1298448" cy="256032"/>
          </a:xfrm>
          <a:prstGeom prst="roundRect">
            <a:avLst>
              <a:gd name="adj" fmla="val 50000"/>
            </a:avLst>
          </a:prstGeom>
          <a:ln w="12700">
            <a:solidFill>
              <a:srgbClr val="00FF88">
                <a:alpha val="7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432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 / RECORDS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48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Legistar-Compatible Export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566160"/>
            <a:ext cx="48600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 reports and capital-ledger summaries export in a format built to attach directly to council agenda packets.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1636" y="2514600"/>
            <a:ext cx="5408676" cy="2651760"/>
          </a:xfrm>
          <a:prstGeom prst="roundRect">
            <a:avLst>
              <a:gd name="adj" fmla="val 4138"/>
            </a:avLst>
          </a:prstGeom>
          <a:solidFill>
            <a:srgbClr val="0F1713"/>
          </a:solidFill>
          <a:ln w="12700">
            <a:solidFill>
              <a:srgbClr val="26302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05956" y="2743200"/>
            <a:ext cx="955548" cy="256032"/>
          </a:xfrm>
          <a:prstGeom prst="roundRect">
            <a:avLst>
              <a:gd name="adj" fmla="val 50000"/>
            </a:avLst>
          </a:prstGeom>
          <a:ln w="12700">
            <a:solidFill>
              <a:srgbClr val="00FF88">
                <a:alpha val="7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05956" y="2743200"/>
            <a:ext cx="9555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 OFFICE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505956" y="3108960"/>
            <a:ext cx="48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Municipal ERP Integration Layer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05956" y="3566160"/>
            <a:ext cx="48600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Work-order and capital data sync outward via API — designed to complement existing asset-management and ERP systems, not replace them.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Integration availability varies by municipal ERP vendor and Legistar deployment — confirm specific compatibility during technical scoping, not at contract signature.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1512" y="411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Sovereignty &amp; </a:t>
            </a:r>
            <a:pPr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2-Tier Retention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city owns its own tenant data outright. CITIXEN retains only anonymized, network-wide benchmarks — never a name, a device ID, or a precise location.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408676" cy="2651760"/>
          </a:xfrm>
          <a:prstGeom prst="roundRect">
            <a:avLst>
              <a:gd name="adj" fmla="val 4138"/>
            </a:avLst>
          </a:prstGeom>
          <a:solidFill>
            <a:srgbClr val="0F1713"/>
          </a:solidFill>
          <a:ln w="15875">
            <a:solidFill>
              <a:srgbClr val="00FF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743200"/>
            <a:ext cx="2258568" cy="256032"/>
          </a:xfrm>
          <a:prstGeom prst="roundRect">
            <a:avLst>
              <a:gd name="adj" fmla="val 50000"/>
            </a:avLst>
          </a:prstGeom>
          <a:ln w="12700">
            <a:solidFill>
              <a:srgbClr val="00FF88">
                <a:alpha val="7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43200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1 · MUNICIPAL TENANT DATA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48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City Data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566160"/>
            <a:ext cx="48600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ticket, location, and dispatch records stay inside that city's own instance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sold or shared outside the municipal services agreement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resident accounts, logins, or device fingerprinting to begin with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31636" y="2514600"/>
            <a:ext cx="5408676" cy="2651760"/>
          </a:xfrm>
          <a:prstGeom prst="roundRect">
            <a:avLst>
              <a:gd name="adj" fmla="val 4138"/>
            </a:avLst>
          </a:prstGeom>
          <a:solidFill>
            <a:srgbClr val="0F1713"/>
          </a:solidFill>
          <a:ln w="12700">
            <a:solidFill>
              <a:srgbClr val="26302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05956" y="2743200"/>
            <a:ext cx="2327148" cy="256032"/>
          </a:xfrm>
          <a:prstGeom prst="roundRect">
            <a:avLst>
              <a:gd name="adj" fmla="val 50000"/>
            </a:avLst>
          </a:prstGeom>
          <a:ln w="12700">
            <a:solidFill>
              <a:srgbClr val="00FF88">
                <a:alpha val="7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05956" y="2743200"/>
            <a:ext cx="23271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2 · ANON. MACRO BENCHMARKS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505956" y="3108960"/>
            <a:ext cx="48600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Cross-City Benchmarking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05956" y="3566160"/>
            <a:ext cx="48600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aggregate, de-identified network-wide stats — resolution SLA, grid coverage, capital-split ratios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ledger pins are coordinate-fuzzed to ~110m before anything is ever displayed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EXIF/GPS and device identifiers are stripped from every photo before it leaves the reporter's device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 data-processing terms, retention windows, and sub-processor disclosures are governed by the municipal services agreement — this slide summarizes the platform's default architecture, not a substitute for that agreement.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23444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STEP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0" y="1234440"/>
            <a:ext cx="11640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algn="ctr" indent="0" marL="0">
              <a:buNone/>
            </a:pPr>
            <a:r>
              <a:rPr lang="en-US" sz="30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30-Day Ward Pilot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979676" y="2468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E9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procurement cycle required to start the conversation — setup takes under two weeks, one ward at a time.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39796" y="3429000"/>
            <a:ext cx="2926080" cy="502920"/>
          </a:xfrm>
          <a:prstGeom prst="roundRect">
            <a:avLst>
              <a:gd name="adj" fmla="val 14545"/>
            </a:avLst>
          </a:prstGeom>
          <a:solidFill>
            <a:srgbClr val="00FF88"/>
          </a:solidFill>
          <a:ln/>
        </p:spPr>
      </p:sp>
      <p:sp>
        <p:nvSpPr>
          <p:cNvPr id="7" name="Text 5">
            <a:hlinkClick r:id="rId1" tooltip=""/>
          </p:cNvPr>
          <p:cNvSpPr txBox="1"/>
          <p:nvPr/>
        </p:nvSpPr>
        <p:spPr>
          <a:xfrm>
            <a:off x="2939796" y="3429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0513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partners@citixenux.com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40196" y="3429000"/>
            <a:ext cx="3108960" cy="502920"/>
          </a:xfrm>
          <a:prstGeom prst="roundRect">
            <a:avLst>
              <a:gd name="adj" fmla="val 14545"/>
            </a:avLst>
          </a:prstGeom>
          <a:ln w="12700">
            <a:solidFill>
              <a:srgbClr val="263029"/>
            </a:solidFill>
            <a:prstDash val="solid"/>
          </a:ln>
        </p:spPr>
      </p:sp>
      <p:sp>
        <p:nvSpPr>
          <p:cNvPr id="9" name="Text 7">
            <a:hlinkClick r:id="rId2" tooltip=""/>
          </p:cNvPr>
          <p:cNvSpPr txBox="1"/>
          <p:nvPr/>
        </p:nvSpPr>
        <p:spPr>
          <a:xfrm>
            <a:off x="6140196" y="34290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citixenux.com/pilot ↗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0" y="4297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E9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 reference deployment: La Crosse, WI — Ward 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2026-09-28T23:39:38Z</dcterms:created>
  <dcterms:modified xsi:type="dcterms:W3CDTF">2026-09-28T23:39:38Z</dcterms:modified>
</cp:coreProperties>
</file>